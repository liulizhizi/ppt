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3"/>
  </p:notesMasterIdLst>
  <p:handoutMasterIdLst>
    <p:handoutMasterId r:id="rId14"/>
  </p:handoutMasterIdLst>
  <p:sldIdLst>
    <p:sldId id="256" r:id="rId2"/>
    <p:sldId id="271" r:id="rId3"/>
    <p:sldId id="290" r:id="rId4"/>
    <p:sldId id="279" r:id="rId5"/>
    <p:sldId id="284" r:id="rId6"/>
    <p:sldId id="285" r:id="rId7"/>
    <p:sldId id="291" r:id="rId8"/>
    <p:sldId id="286" r:id="rId9"/>
    <p:sldId id="288" r:id="rId10"/>
    <p:sldId id="289" r:id="rId11"/>
    <p:sldId id="287" r:id="rId12"/>
  </p:sldIdLst>
  <p:sldSz cx="12192000" cy="6858000"/>
  <p:notesSz cx="6858000" cy="9144000"/>
  <p:custDataLst>
    <p:tags r:id="rId15"/>
  </p:custDataLst>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欢迎" id="{E75E278A-FF0E-49A4-B170-79828D63BBAD}">
          <p14:sldIdLst>
            <p14:sldId id="256"/>
          </p14:sldIdLst>
        </p14:section>
        <p14:section name="设计、平滑、添加注释、协作、操作说明搜索" id="{B9B51309-D148-4332-87C2-07BE32FBCA3B}">
          <p14:sldIdLst>
            <p14:sldId id="271"/>
            <p14:sldId id="290"/>
            <p14:sldId id="279"/>
            <p14:sldId id="284"/>
            <p14:sldId id="285"/>
            <p14:sldId id="291"/>
            <p14:sldId id="286"/>
            <p14:sldId id="288"/>
            <p14:sldId id="289"/>
            <p14:sldId id="287"/>
          </p14:sldIdLst>
        </p14:section>
        <p14:section name="了解详细信息"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作者"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241" autoAdjust="0"/>
  </p:normalViewPr>
  <p:slideViewPr>
    <p:cSldViewPr snapToGrid="0">
      <p:cViewPr varScale="1">
        <p:scale>
          <a:sx n="74" d="100"/>
          <a:sy n="74" d="100"/>
        </p:scale>
        <p:origin x="845" y="5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75" d="100"/>
          <a:sy n="75" d="100"/>
        </p:scale>
        <p:origin x="3610"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zh-CN" altLang="en-US">
              <a:latin typeface="Microsoft YaHei UI" panose="020B0503020204020204" pitchFamily="34" charset="-122"/>
              <a:ea typeface="Microsoft YaHei UI"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AA071E02-3F1A-4B0B-8EE9-4F1B741D9601}" type="datetime1">
              <a:rPr lang="zh-CN" altLang="en-US" smtClean="0">
                <a:latin typeface="Microsoft YaHei UI" panose="020B0503020204020204" pitchFamily="34" charset="-122"/>
                <a:ea typeface="Microsoft YaHei UI" panose="020B0503020204020204" pitchFamily="34" charset="-122"/>
              </a:rPr>
              <a:t>2026/3/12</a:t>
            </a:fld>
            <a:endParaRPr lang="zh-CN" altLang="en-US">
              <a:latin typeface="Microsoft YaHei UI" panose="020B0503020204020204" pitchFamily="34" charset="-122"/>
              <a:ea typeface="Microsoft YaHei UI"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zh-CN" altLang="en-US">
              <a:latin typeface="Microsoft YaHei UI" panose="020B0503020204020204" pitchFamily="34" charset="-122"/>
              <a:ea typeface="Microsoft YaHei UI"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zh-CN" smtClean="0">
                <a:latin typeface="Microsoft YaHei UI" panose="020B0503020204020204" pitchFamily="34" charset="-122"/>
                <a:ea typeface="Microsoft YaHei UI" panose="020B0503020204020204" pitchFamily="34" charset="-122"/>
              </a:rPr>
              <a:t>‹#›</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icrosoft YaHei UI" panose="020B0503020204020204" pitchFamily="34" charset="-122"/>
                <a:ea typeface="Microsoft YaHei UI" panose="020B0503020204020204" pitchFamily="34" charset="-122"/>
              </a:defRPr>
            </a:lvl1pPr>
          </a:lstStyle>
          <a:p>
            <a:endParaRPr 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icrosoft YaHei UI" panose="020B0503020204020204" pitchFamily="34" charset="-122"/>
                <a:ea typeface="Microsoft YaHei UI" panose="020B0503020204020204" pitchFamily="34" charset="-122"/>
              </a:defRPr>
            </a:lvl1pPr>
          </a:lstStyle>
          <a:p>
            <a:fld id="{81DCBD32-5E35-4514-9815-F3DDD3668777}" type="datetime1">
              <a:rPr lang="zh-CN" altLang="en-US" smtClean="0"/>
              <a:t>2026/3/12</a:t>
            </a:fld>
            <a:endParaRPr 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dirty="0"/>
              <a:t>单击此处编辑母版文本样式</a:t>
            </a:r>
          </a:p>
          <a:p>
            <a:pPr lvl="1" rtl="0"/>
            <a:r>
              <a:rPr lang="zh-cn" dirty="0"/>
              <a:t>第二级</a:t>
            </a:r>
          </a:p>
          <a:p>
            <a:pPr lvl="2" rtl="0"/>
            <a:r>
              <a:rPr lang="zh-cn" dirty="0"/>
              <a:t>第三级</a:t>
            </a:r>
          </a:p>
          <a:p>
            <a:pPr lvl="3" rtl="0"/>
            <a:r>
              <a:rPr lang="zh-cn" dirty="0"/>
              <a:t>第四级</a:t>
            </a:r>
          </a:p>
          <a:p>
            <a:pPr lvl="4" rtl="0"/>
            <a:r>
              <a:rPr lang="zh-cn"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icrosoft YaHei UI" panose="020B0503020204020204" pitchFamily="34" charset="-122"/>
                <a:ea typeface="Microsoft YaHei UI" panose="020B0503020204020204" pitchFamily="34" charset="-122"/>
              </a:defRPr>
            </a:lvl1pPr>
          </a:lstStyle>
          <a:p>
            <a:endParaRPr 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icrosoft YaHei UI" panose="020B0503020204020204" pitchFamily="34" charset="-122"/>
                <a:ea typeface="Microsoft YaHei UI" panose="020B0503020204020204" pitchFamily="34" charset="-122"/>
              </a:defRPr>
            </a:lvl1pPr>
          </a:lstStyle>
          <a:p>
            <a:fld id="{DF61EA0F-A667-4B49-8422-0062BC55E249}" type="slidenum">
              <a:rPr lang="en-US" smtClean="0"/>
              <a:pPr/>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1pPr>
    <a:lvl2pPr marL="45720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2pPr>
    <a:lvl3pPr marL="91440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3pPr>
    <a:lvl4pPr marL="137160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4pPr>
    <a:lvl5pPr marL="182880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rtlCol="0"/>
          <a:lstStyle/>
          <a:p>
            <a:pPr rtl="0"/>
            <a:endParaRPr lang="zh-CN" altLang="en-US">
              <a:latin typeface="Microsoft YaHei UI" panose="020B0503020204020204" pitchFamily="34" charset="-122"/>
              <a:ea typeface="Microsoft YaHei UI" panose="020B0503020204020204" pitchFamily="34" charset="-122"/>
            </a:endParaRPr>
          </a:p>
        </p:txBody>
      </p:sp>
      <p:sp>
        <p:nvSpPr>
          <p:cNvPr id="4" name="幻灯片编号占位符 3"/>
          <p:cNvSpPr>
            <a:spLocks noGrp="1"/>
          </p:cNvSpPr>
          <p:nvPr>
            <p:ph type="sldNum" sz="quarter" idx="10"/>
          </p:nvPr>
        </p:nvSpPr>
        <p:spPr/>
        <p:txBody>
          <a:bodyPr rtlCol="0"/>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1</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2</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36754013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09A88-CE74-E892-9043-09C2BDAD62B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FB0DD91-373D-039A-6C4C-8F82A07B0D9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2F5E1DF-98C5-D096-DB6E-B88F6DBDD91F}"/>
              </a:ext>
            </a:extLst>
          </p:cNvPr>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a:extLst>
              <a:ext uri="{FF2B5EF4-FFF2-40B4-BE49-F238E27FC236}">
                <a16:creationId xmlns:a16="http://schemas.microsoft.com/office/drawing/2014/main" id="{AA163865-5E71-0643-CE3A-63C95BCB757E}"/>
              </a:ext>
            </a:extLst>
          </p:cNvPr>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3</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2031028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4</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9811189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AC36C-60A4-E758-DEB8-A9FFA5ED13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F17E218-8906-1467-C718-FA75A30743D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5E48172-C043-889A-E91D-A6DA9214532F}"/>
              </a:ext>
            </a:extLst>
          </p:cNvPr>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a:extLst>
              <a:ext uri="{FF2B5EF4-FFF2-40B4-BE49-F238E27FC236}">
                <a16:creationId xmlns:a16="http://schemas.microsoft.com/office/drawing/2014/main" id="{16D58BBB-0C09-0B06-7895-FA1F84A97FD5}"/>
              </a:ext>
            </a:extLst>
          </p:cNvPr>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5</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3837217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FC95-8126-E3DA-5A17-A226280B70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FE1D341-A2FF-D14E-9232-1E92BEB6C0A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6CC5AA-473B-D338-4FA3-07A2EA49E33A}"/>
              </a:ext>
            </a:extLst>
          </p:cNvPr>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a:extLst>
              <a:ext uri="{FF2B5EF4-FFF2-40B4-BE49-F238E27FC236}">
                <a16:creationId xmlns:a16="http://schemas.microsoft.com/office/drawing/2014/main" id="{75653CD4-BBCF-FCFC-1BFE-78DD61D10924}"/>
              </a:ext>
            </a:extLst>
          </p:cNvPr>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6</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9995206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35380-2542-63F7-EF0A-2B4E6BE8E45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C91D138-264B-A1A6-0C20-ABA852779E9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F21432B-DCD0-D3D1-A0E4-23014B8BACB6}"/>
              </a:ext>
            </a:extLst>
          </p:cNvPr>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a:extLst>
              <a:ext uri="{FF2B5EF4-FFF2-40B4-BE49-F238E27FC236}">
                <a16:creationId xmlns:a16="http://schemas.microsoft.com/office/drawing/2014/main" id="{AB7F6CD3-C263-552E-9098-DEF890CBD759}"/>
              </a:ext>
            </a:extLst>
          </p:cNvPr>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8</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7254685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2F8E-8342-34FC-0C70-8412F56254B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776FFD0-2013-627C-7AB6-8BE102C3380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30800AD-D90B-EC2C-B84C-F2789AB2A81D}"/>
              </a:ext>
            </a:extLst>
          </p:cNvPr>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a:extLst>
              <a:ext uri="{FF2B5EF4-FFF2-40B4-BE49-F238E27FC236}">
                <a16:creationId xmlns:a16="http://schemas.microsoft.com/office/drawing/2014/main" id="{D8A28058-2093-7B93-36C1-762A7A1A5933}"/>
              </a:ext>
            </a:extLst>
          </p:cNvPr>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9</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3832862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88001-F274-9A59-9017-31C5E4E1E1A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FE3C68-CFEE-461D-F260-CC318B22595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71CB418-04DF-9EE0-FB9C-676A6D82BF10}"/>
              </a:ext>
            </a:extLst>
          </p:cNvPr>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a:extLst>
              <a:ext uri="{FF2B5EF4-FFF2-40B4-BE49-F238E27FC236}">
                <a16:creationId xmlns:a16="http://schemas.microsoft.com/office/drawing/2014/main" id="{9D22CBE9-EEE3-2546-3115-0727CADBC0B4}"/>
              </a:ext>
            </a:extLst>
          </p:cNvPr>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10</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0969750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73887-29B6-DDEB-92B7-D09E4F0D915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E0F2F5C-6EF2-5FF6-140D-0A2B4F14CD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C6EF58-590C-AD4B-AA38-9ACA7D7DFB9D}"/>
              </a:ext>
            </a:extLst>
          </p:cNvPr>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a:extLst>
              <a:ext uri="{FF2B5EF4-FFF2-40B4-BE49-F238E27FC236}">
                <a16:creationId xmlns:a16="http://schemas.microsoft.com/office/drawing/2014/main" id="{5F5A5C24-5807-70D7-01BF-DC1F57486A22}"/>
              </a:ext>
            </a:extLst>
          </p:cNvPr>
          <p:cNvSpPr>
            <a:spLocks noGrp="1"/>
          </p:cNvSpPr>
          <p:nvPr>
            <p:ph type="sldNum" sz="quarter" idx="5"/>
          </p:nvPr>
        </p:nvSpPr>
        <p:spPr/>
        <p:txBody>
          <a:bodyPr/>
          <a:lstStyle/>
          <a:p>
            <a:pPr rtl="0"/>
            <a:fld id="{DF61EA0F-A667-4B49-8422-0062BC55E249}" type="slidenum">
              <a:rPr lang="en-US" altLang="zh-CN" smtClean="0">
                <a:latin typeface="Microsoft YaHei UI" panose="020B0503020204020204" pitchFamily="34" charset="-122"/>
                <a:ea typeface="Microsoft YaHei UI" panose="020B0503020204020204" pitchFamily="34" charset="-122"/>
              </a:rPr>
              <a:t>11</a:t>
            </a:fld>
            <a:endParaRPr lang="zh-CN" altLang="en-US">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6825446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长方形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800" noProof="0">
              <a:latin typeface="Microsoft YaHei UI" panose="020B0503020204020204" pitchFamily="34" charset="-122"/>
              <a:ea typeface="Microsoft YaHei UI" panose="020B0503020204020204" pitchFamily="34" charset="-122"/>
            </a:endParaRPr>
          </a:p>
        </p:txBody>
      </p:sp>
      <p:sp>
        <p:nvSpPr>
          <p:cNvPr id="2" name="标题 1"/>
          <p:cNvSpPr>
            <a:spLocks noGrp="1"/>
          </p:cNvSpPr>
          <p:nvPr>
            <p:ph type="title"/>
          </p:nvPr>
        </p:nvSpPr>
        <p:spPr/>
        <p:txBody>
          <a:bodyPr rtlCol="0"/>
          <a:lstStyle>
            <a:lvl1pPr>
              <a:defRPr>
                <a:latin typeface="Microsoft YaHei UI Light" panose="020B0502040204020203" pitchFamily="34" charset="-122"/>
                <a:ea typeface="Microsoft YaHei UI Light" panose="020B0502040204020203" pitchFamily="34" charset="-122"/>
              </a:defRPr>
            </a:lvl1pPr>
          </a:lstStyle>
          <a:p>
            <a:pPr rtl="0"/>
            <a:r>
              <a:rPr lang="zh-CN" altLang="en-US" noProof="0"/>
              <a:t>单击此处编辑母版标题样式</a:t>
            </a:r>
            <a:endParaRPr lang="zh-CN" altLang="en-US"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9" name="长方形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zh-CN" altLang="en-US" sz="1800" noProof="0">
              <a:latin typeface="Microsoft YaHei UI" panose="020B0503020204020204" pitchFamily="34" charset="-122"/>
              <a:ea typeface="Microsoft YaHei UI" panose="020B0503020204020204" pitchFamily="34" charset="-122"/>
            </a:endParaRPr>
          </a:p>
        </p:txBody>
      </p:sp>
      <p:cxnSp>
        <p:nvCxnSpPr>
          <p:cNvPr id="12" name="直接连接符​​(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标题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Microsoft YaHei UI Light" panose="020B0502040204020203" pitchFamily="34" charset="-122"/>
                <a:ea typeface="Microsoft YaHei UI Light" panose="020B0502040204020203"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Microsoft YaHei UI" panose="020B0503020204020204" pitchFamily="34" charset="-122"/>
                <a:ea typeface="Microsoft YaHei UI" panose="020B0503020204020204" pitchFamily="34" charset="-122"/>
              </a:defRPr>
            </a:lvl1pPr>
            <a:lvl2pPr>
              <a:defRPr lang="en-US" sz="1200" smtClean="0">
                <a:solidFill>
                  <a:schemeClr val="tx1">
                    <a:lumMod val="75000"/>
                    <a:lumOff val="25000"/>
                  </a:schemeClr>
                </a:solidFill>
                <a:latin typeface="Microsoft YaHei UI" panose="020B0503020204020204" pitchFamily="34" charset="-122"/>
                <a:ea typeface="Microsoft YaHei UI" panose="020B0503020204020204" pitchFamily="34" charset="-122"/>
              </a:defRPr>
            </a:lvl2pPr>
            <a:lvl3pPr>
              <a:defRPr lang="en-US" sz="1200" smtClean="0">
                <a:solidFill>
                  <a:schemeClr val="tx1">
                    <a:lumMod val="75000"/>
                    <a:lumOff val="25000"/>
                  </a:schemeClr>
                </a:solidFill>
                <a:latin typeface="Microsoft YaHei UI" panose="020B0503020204020204" pitchFamily="34" charset="-122"/>
                <a:ea typeface="Microsoft YaHei UI" panose="020B0503020204020204" pitchFamily="34" charset="-122"/>
              </a:defRPr>
            </a:lvl3pPr>
            <a:lvl4pPr>
              <a:defRPr lang="en-US" sz="1200" smtClean="0">
                <a:solidFill>
                  <a:schemeClr val="tx1">
                    <a:lumMod val="75000"/>
                    <a:lumOff val="25000"/>
                  </a:schemeClr>
                </a:solidFill>
                <a:latin typeface="Microsoft YaHei UI" panose="020B0503020204020204" pitchFamily="34" charset="-122"/>
                <a:ea typeface="Microsoft YaHei UI" panose="020B0503020204020204" pitchFamily="34" charset="-122"/>
              </a:defRPr>
            </a:lvl4pPr>
            <a:lvl5pPr>
              <a:defRPr lang="en-US" sz="1200">
                <a:solidFill>
                  <a:schemeClr val="tx1">
                    <a:lumMod val="75000"/>
                    <a:lumOff val="25000"/>
                  </a:schemeClr>
                </a:solidFill>
                <a:latin typeface="Microsoft YaHei UI" panose="020B0503020204020204" pitchFamily="34" charset="-122"/>
                <a:ea typeface="Microsoft YaHei UI" panose="020B0503020204020204" pitchFamily="34" charset="-122"/>
              </a:defRPr>
            </a:lvl5pPr>
          </a:lstStyle>
          <a:p>
            <a:pPr marL="0" lvl="0" indent="0" rtl="0">
              <a:lnSpc>
                <a:spcPct val="150000"/>
              </a:lnSpc>
              <a:spcBef>
                <a:spcPts val="1000"/>
              </a:spcBef>
              <a:spcAft>
                <a:spcPts val="1200"/>
              </a:spcAft>
              <a:buNone/>
            </a:pPr>
            <a:r>
              <a:rPr lang="zh-CN" altLang="en-US" noProof="0"/>
              <a:t>单击此处编辑母版文本样式</a:t>
            </a:r>
          </a:p>
          <a:p>
            <a:pPr marL="0" lvl="1" indent="0" rtl="0">
              <a:lnSpc>
                <a:spcPct val="150000"/>
              </a:lnSpc>
              <a:spcBef>
                <a:spcPts val="1000"/>
              </a:spcBef>
              <a:spcAft>
                <a:spcPts val="1200"/>
              </a:spcAft>
              <a:buNone/>
            </a:pPr>
            <a:r>
              <a:rPr lang="zh-CN" altLang="en-US" noProof="0"/>
              <a:t>二级</a:t>
            </a:r>
          </a:p>
          <a:p>
            <a:pPr marL="0" lvl="2" indent="0" rtl="0">
              <a:lnSpc>
                <a:spcPct val="150000"/>
              </a:lnSpc>
              <a:spcBef>
                <a:spcPts val="1000"/>
              </a:spcBef>
              <a:spcAft>
                <a:spcPts val="1200"/>
              </a:spcAft>
              <a:buNone/>
            </a:pPr>
            <a:r>
              <a:rPr lang="zh-CN" altLang="en-US" noProof="0"/>
              <a:t>三级</a:t>
            </a:r>
          </a:p>
          <a:p>
            <a:pPr marL="0" lvl="3" indent="0" rtl="0">
              <a:lnSpc>
                <a:spcPct val="150000"/>
              </a:lnSpc>
              <a:spcBef>
                <a:spcPts val="1000"/>
              </a:spcBef>
              <a:spcAft>
                <a:spcPts val="1200"/>
              </a:spcAft>
              <a:buNone/>
            </a:pPr>
            <a:r>
              <a:rPr lang="zh-CN" altLang="en-US" noProof="0"/>
              <a:t>四级</a:t>
            </a:r>
          </a:p>
          <a:p>
            <a:pPr marL="0" lvl="4" indent="0" rtl="0">
              <a:lnSpc>
                <a:spcPct val="150000"/>
              </a:lnSpc>
              <a:spcBef>
                <a:spcPts val="1000"/>
              </a:spcBef>
              <a:spcAft>
                <a:spcPts val="1200"/>
              </a:spcAft>
              <a:buNone/>
            </a:pPr>
            <a:r>
              <a:rPr lang="zh-CN" altLang="en-US" noProof="0"/>
              <a:t>五级</a:t>
            </a:r>
          </a:p>
        </p:txBody>
      </p:sp>
      <p:sp>
        <p:nvSpPr>
          <p:cNvPr id="6" name="日期占位符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fld id="{FC0AFDC1-AB40-4941-83E0-44D5ED544864}" type="datetime1">
              <a:rPr lang="zh-CN" altLang="en-US" noProof="0" smtClean="0"/>
              <a:t>2026/3/12</a:t>
            </a:fld>
            <a:endParaRPr lang="zh-CN" altLang="en-US" noProof="0"/>
          </a:p>
        </p:txBody>
      </p:sp>
      <p:sp>
        <p:nvSpPr>
          <p:cNvPr id="7" name="页脚占位符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endParaRPr lang="zh-CN" altLang="en-US" noProof="0"/>
          </a:p>
        </p:txBody>
      </p:sp>
      <p:sp>
        <p:nvSpPr>
          <p:cNvPr id="8" name="灯片编号占位符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noProof="0" smtClean="0"/>
              <a:pPr/>
              <a:t>‹#›</a:t>
            </a:fld>
            <a:endParaRPr lang="zh-CN"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
        <p:nvSpPr>
          <p:cNvPr id="9" name="长方形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800" noProof="0">
              <a:latin typeface="Microsoft YaHei UI" panose="020B0503020204020204" pitchFamily="34" charset="-122"/>
              <a:ea typeface="Microsoft YaHei UI" panose="020B0503020204020204" pitchFamily="34" charset="-122"/>
            </a:endParaRPr>
          </a:p>
        </p:txBody>
      </p:sp>
      <p:sp>
        <p:nvSpPr>
          <p:cNvPr id="10" name="长方形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800" noProof="0">
              <a:latin typeface="Microsoft YaHei UI" panose="020B0503020204020204" pitchFamily="34" charset="-122"/>
              <a:ea typeface="Microsoft YaHei UI" panose="020B0503020204020204" pitchFamily="34" charset="-122"/>
            </a:endParaRPr>
          </a:p>
        </p:txBody>
      </p:sp>
      <p:sp>
        <p:nvSpPr>
          <p:cNvPr id="2" name="标题 1"/>
          <p:cNvSpPr>
            <a:spLocks noGrp="1"/>
          </p:cNvSpPr>
          <p:nvPr>
            <p:ph type="title"/>
          </p:nvPr>
        </p:nvSpPr>
        <p:spPr>
          <a:xfrm>
            <a:off x="521208" y="1536192"/>
            <a:ext cx="6876288" cy="640080"/>
          </a:xfrm>
        </p:spPr>
        <p:txBody>
          <a:bodyPr rtlCol="0">
            <a:normAutofit/>
          </a:bodyPr>
          <a:lstStyle>
            <a:lvl1pPr>
              <a:defRPr sz="3600">
                <a:solidFill>
                  <a:schemeClr val="bg1"/>
                </a:solidFill>
                <a:latin typeface="Microsoft YaHei UI Light" panose="020B0502040204020203" pitchFamily="34" charset="-122"/>
                <a:ea typeface="Microsoft YaHei UI Light" panose="020B0502040204020203" pitchFamily="34" charset="-122"/>
              </a:defRPr>
            </a:lvl1pPr>
          </a:lstStyle>
          <a:p>
            <a:pPr rtl="0"/>
            <a:r>
              <a:rPr lang="zh-CN" altLang="en-US" noProof="0"/>
              <a:t>单击此处编辑母版标题样式</a:t>
            </a:r>
            <a:endParaRPr lang="zh-CN" altLang="en-US" noProof="0" dirty="0"/>
          </a:p>
        </p:txBody>
      </p:sp>
      <p:sp>
        <p:nvSpPr>
          <p:cNvPr id="7" name="内容占位符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icrosoft YaHei UI" panose="020B0503020204020204" pitchFamily="34" charset="-122"/>
                <a:ea typeface="Microsoft YaHei UI" panose="020B0503020204020204" pitchFamily="34" charset="-122"/>
              </a:defRPr>
            </a:lvl1pPr>
            <a:lvl2pPr>
              <a:defRPr lang="en-US" sz="1200" dirty="0" smtClean="0">
                <a:solidFill>
                  <a:schemeClr val="tx1">
                    <a:lumMod val="75000"/>
                    <a:lumOff val="25000"/>
                  </a:schemeClr>
                </a:solidFill>
                <a:latin typeface="Microsoft YaHei UI" panose="020B0503020204020204" pitchFamily="34" charset="-122"/>
                <a:ea typeface="Microsoft YaHei UI" panose="020B0503020204020204" pitchFamily="34" charset="-122"/>
              </a:defRPr>
            </a:lvl2pPr>
            <a:lvl3pPr>
              <a:defRPr lang="en-US" sz="1200" dirty="0" smtClean="0">
                <a:solidFill>
                  <a:schemeClr val="tx1">
                    <a:lumMod val="75000"/>
                    <a:lumOff val="25000"/>
                  </a:schemeClr>
                </a:solidFill>
                <a:latin typeface="Microsoft YaHei UI" panose="020B0503020204020204" pitchFamily="34" charset="-122"/>
                <a:ea typeface="Microsoft YaHei UI" panose="020B0503020204020204" pitchFamily="34" charset="-122"/>
              </a:defRPr>
            </a:lvl3pPr>
            <a:lvl4pPr>
              <a:defRPr lang="en-US" sz="1200" dirty="0" smtClean="0">
                <a:solidFill>
                  <a:schemeClr val="tx1">
                    <a:lumMod val="75000"/>
                    <a:lumOff val="25000"/>
                  </a:schemeClr>
                </a:solidFill>
                <a:latin typeface="Microsoft YaHei UI" panose="020B0503020204020204" pitchFamily="34" charset="-122"/>
                <a:ea typeface="Microsoft YaHei UI" panose="020B0503020204020204" pitchFamily="34" charset="-122"/>
              </a:defRPr>
            </a:lvl4pPr>
            <a:lvl5pPr>
              <a:defRPr lang="en-US" sz="1200" dirty="0">
                <a:solidFill>
                  <a:schemeClr val="tx1">
                    <a:lumMod val="75000"/>
                    <a:lumOff val="25000"/>
                  </a:schemeClr>
                </a:solidFill>
                <a:latin typeface="Microsoft YaHei UI" panose="020B0503020204020204" pitchFamily="34" charset="-122"/>
                <a:ea typeface="Microsoft YaHei UI" panose="020B0503020204020204" pitchFamily="34" charset="-122"/>
              </a:defRPr>
            </a:lvl5pPr>
          </a:lstStyle>
          <a:p>
            <a:pPr marL="0" lvl="0" indent="0" rtl="0">
              <a:lnSpc>
                <a:spcPct val="150000"/>
              </a:lnSpc>
              <a:spcBef>
                <a:spcPts val="1000"/>
              </a:spcBef>
              <a:spcAft>
                <a:spcPts val="1200"/>
              </a:spcAft>
              <a:buNone/>
            </a:pPr>
            <a:r>
              <a:rPr lang="zh-CN" altLang="en-US" noProof="0"/>
              <a:t>单击此处编辑母版文本样式</a:t>
            </a:r>
          </a:p>
          <a:p>
            <a:pPr marL="0" lvl="1" indent="0" rtl="0">
              <a:lnSpc>
                <a:spcPct val="150000"/>
              </a:lnSpc>
              <a:spcBef>
                <a:spcPts val="1000"/>
              </a:spcBef>
              <a:spcAft>
                <a:spcPts val="1200"/>
              </a:spcAft>
              <a:buNone/>
            </a:pPr>
            <a:r>
              <a:rPr lang="zh-CN" altLang="en-US" noProof="0"/>
              <a:t>二级</a:t>
            </a:r>
          </a:p>
          <a:p>
            <a:pPr marL="0" lvl="2" indent="0" rtl="0">
              <a:lnSpc>
                <a:spcPct val="150000"/>
              </a:lnSpc>
              <a:spcBef>
                <a:spcPts val="1000"/>
              </a:spcBef>
              <a:spcAft>
                <a:spcPts val="1200"/>
              </a:spcAft>
              <a:buNone/>
            </a:pPr>
            <a:r>
              <a:rPr lang="zh-CN" altLang="en-US" noProof="0"/>
              <a:t>三级</a:t>
            </a:r>
          </a:p>
          <a:p>
            <a:pPr marL="0" lvl="3" indent="0" rtl="0">
              <a:lnSpc>
                <a:spcPct val="150000"/>
              </a:lnSpc>
              <a:spcBef>
                <a:spcPts val="1000"/>
              </a:spcBef>
              <a:spcAft>
                <a:spcPts val="1200"/>
              </a:spcAft>
              <a:buNone/>
            </a:pPr>
            <a:r>
              <a:rPr lang="zh-CN" altLang="en-US" noProof="0"/>
              <a:t>四级</a:t>
            </a:r>
          </a:p>
          <a:p>
            <a:pPr marL="0" lvl="4" indent="0" rtl="0">
              <a:lnSpc>
                <a:spcPct val="150000"/>
              </a:lnSpc>
              <a:spcBef>
                <a:spcPts val="1000"/>
              </a:spcBef>
              <a:spcAft>
                <a:spcPts val="1200"/>
              </a:spcAft>
              <a:buNone/>
            </a:pPr>
            <a:r>
              <a:rPr lang="zh-CN" altLang="en-US" noProof="0"/>
              <a:t>五级</a:t>
            </a:r>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长方形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zh-CN" altLang="en-US" sz="1800" noProof="0">
              <a:latin typeface="Microsoft YaHei UI" panose="020B0503020204020204" pitchFamily="34" charset="-122"/>
              <a:ea typeface="Microsoft YaHei UI" panose="020B0503020204020204" pitchFamily="34" charset="-122"/>
            </a:endParaRPr>
          </a:p>
        </p:txBody>
      </p:sp>
      <p:sp>
        <p:nvSpPr>
          <p:cNvPr id="2" name="标题占位符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zh-CN" altLang="en-US" noProof="0"/>
              <a:t>单击此处编辑母版标题样式</a:t>
            </a:r>
          </a:p>
        </p:txBody>
      </p:sp>
      <p:sp>
        <p:nvSpPr>
          <p:cNvPr id="3" name="文本占位符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zh-CN" altLang="en-US" noProof="0"/>
              <a:t>单击此处编辑母版文本样式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p>
        </p:txBody>
      </p:sp>
      <p:sp>
        <p:nvSpPr>
          <p:cNvPr id="4" name="日期占位符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fld id="{1814A537-FBC6-4533-8B31-767E68D33208}" type="datetime1">
              <a:rPr lang="zh-CN" altLang="en-US" noProof="0" smtClean="0"/>
              <a:t>2026/3/12</a:t>
            </a:fld>
            <a:endParaRPr lang="zh-CN" altLang="en-US" noProof="0" dirty="0"/>
          </a:p>
        </p:txBody>
      </p:sp>
      <p:sp>
        <p:nvSpPr>
          <p:cNvPr id="5" name="页脚占位符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endParaRPr lang="zh-CN" altLang="en-US" noProof="0"/>
          </a:p>
        </p:txBody>
      </p:sp>
      <p:sp>
        <p:nvSpPr>
          <p:cNvPr id="6" name="灯片编号占位符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noProof="0" smtClean="0"/>
              <a:pPr/>
              <a:t>‹#›</a:t>
            </a:fld>
            <a:endParaRPr lang="zh-CN" altLang="en-US" noProof="0"/>
          </a:p>
        </p:txBody>
      </p:sp>
      <p:cxnSp>
        <p:nvCxnSpPr>
          <p:cNvPr id="8" name="直接连接符​​(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icrosoft YaHei UI Light" panose="020B0502040204020203" pitchFamily="34" charset="-122"/>
          <a:ea typeface="Microsoft YaHei UI Light" panose="020B0502040204020203" pitchFamily="34" charset="-122"/>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icrosoft YaHei UI" panose="020B0503020204020204" pitchFamily="34" charset="-122"/>
          <a:ea typeface="Microsoft YaHei UI" panose="020B0503020204020204" pitchFamily="34" charset="-122"/>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icrosoft YaHei UI" panose="020B0503020204020204" pitchFamily="34" charset="-122"/>
          <a:ea typeface="Microsoft YaHei UI" panose="020B0503020204020204" pitchFamily="34" charset="-122"/>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icrosoft YaHei UI" panose="020B0503020204020204" pitchFamily="34" charset="-122"/>
          <a:ea typeface="Microsoft YaHei UI" panose="020B0503020204020204" pitchFamily="34" charset="-122"/>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icrosoft YaHei UI" panose="020B0503020204020204" pitchFamily="34" charset="-122"/>
          <a:ea typeface="Microsoft YaHei UI" panose="020B0503020204020204" pitchFamily="34" charset="-122"/>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icrosoft YaHei UI" panose="020B0503020204020204" pitchFamily="34" charset="-122"/>
          <a:ea typeface="Microsoft YaHei UI" panose="020B0503020204020204" pitchFamily="34" charset="-122"/>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838200" y="1164324"/>
            <a:ext cx="10515600" cy="2387600"/>
          </a:xfrm>
        </p:spPr>
        <p:txBody>
          <a:bodyPr rtlCol="0" anchor="ctr" anchorCtr="0">
            <a:normAutofit/>
          </a:bodyPr>
          <a:lstStyle/>
          <a:p>
            <a:pPr algn="ctr"/>
            <a:r>
              <a:rPr lang="zh-CN" altLang="en-US" sz="4800" dirty="0">
                <a:solidFill>
                  <a:schemeClr val="bg1"/>
                </a:solidFill>
              </a:rPr>
              <a:t>基于</a:t>
            </a:r>
            <a:r>
              <a:rPr lang="en-US" altLang="zh-CN" sz="4800" dirty="0">
                <a:solidFill>
                  <a:schemeClr val="bg1"/>
                </a:solidFill>
              </a:rPr>
              <a:t>transformer</a:t>
            </a:r>
            <a:r>
              <a:rPr lang="zh-CN" altLang="en-US" sz="4800" dirty="0">
                <a:solidFill>
                  <a:schemeClr val="bg1"/>
                </a:solidFill>
              </a:rPr>
              <a:t>的钢琴踏板重建</a:t>
            </a:r>
            <a:endParaRPr lang="en-US" altLang="zh-CN" sz="4800" dirty="0">
              <a:solidFill>
                <a:schemeClr val="bg1"/>
              </a:solidFill>
            </a:endParaRPr>
          </a:p>
        </p:txBody>
      </p:sp>
      <p:sp>
        <p:nvSpPr>
          <p:cNvPr id="3" name="副标题 2"/>
          <p:cNvSpPr>
            <a:spLocks noGrp="1"/>
          </p:cNvSpPr>
          <p:nvPr>
            <p:ph type="subTitle" idx="4294967295"/>
          </p:nvPr>
        </p:nvSpPr>
        <p:spPr>
          <a:xfrm>
            <a:off x="855620" y="4125801"/>
            <a:ext cx="9582736" cy="1567875"/>
          </a:xfrm>
        </p:spPr>
        <p:txBody>
          <a:bodyPr rtlCol="0">
            <a:normAutofit/>
          </a:bodyPr>
          <a:lstStyle/>
          <a:p>
            <a:pPr algn="ctr"/>
            <a:r>
              <a:rPr lang="zh-CN" altLang="en-US" sz="2400" dirty="0">
                <a:solidFill>
                  <a:schemeClr val="bg1"/>
                </a:solidFill>
                <a:latin typeface="Microsoft YaHei UI Light" panose="020B0502040204020203" pitchFamily="34" charset="-122"/>
                <a:ea typeface="Microsoft YaHei UI Light" panose="020B0502040204020203" pitchFamily="34" charset="-122"/>
              </a:rPr>
              <a:t>刘文昊</a:t>
            </a: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rotWithShape="1">
          <a:blip r:embed="rId3"/>
          <a:srcRect t="6101" b="6101"/>
          <a:stretch/>
        </p:blipFill>
        <p:spPr>
          <a:xfrm>
            <a:off x="4976037" y="1385113"/>
            <a:ext cx="6513229" cy="4577621"/>
          </a:xfrm>
          <a:prstGeom prst="rect">
            <a:avLst/>
          </a:prstGeom>
          <a:effectLst>
            <a:softEdge rad="635000"/>
          </a:effectLst>
        </p:spPr>
      </p:pic>
      <p:sp>
        <p:nvSpPr>
          <p:cNvPr id="8" name="标题 7"/>
          <p:cNvSpPr>
            <a:spLocks noGrp="1"/>
          </p:cNvSpPr>
          <p:nvPr>
            <p:ph type="title"/>
          </p:nvPr>
        </p:nvSpPr>
        <p:spPr/>
        <p:txBody>
          <a:bodyPr rtlCol="0">
            <a:noAutofit/>
          </a:bodyPr>
          <a:lstStyle/>
          <a:p>
            <a:r>
              <a:rPr lang="zh-CN" altLang="en-US" sz="3200" dirty="0"/>
              <a:t>动机</a:t>
            </a:r>
            <a:endParaRPr lang="zh-CN" altLang="en-US" sz="3200" dirty="0">
              <a:cs typeface="Segoe UI Light" panose="020B0502040204020203" pitchFamily="34" charset="0"/>
            </a:endParaRPr>
          </a:p>
        </p:txBody>
      </p:sp>
      <p:sp>
        <p:nvSpPr>
          <p:cNvPr id="38" name="内容占位符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600"/>
              </a:spcAft>
              <a:buNone/>
              <a:defRPr/>
            </a:pPr>
            <a:endParaRPr lang="zh-CN" altLang="en-US" dirty="0">
              <a:latin typeface="Microsoft YaHei UI" panose="020B0503020204020204" pitchFamily="34" charset="-122"/>
              <a:ea typeface="Microsoft YaHei UI" panose="020B0503020204020204" pitchFamily="34" charset="-122"/>
              <a:cs typeface="Segoe UI" panose="020B0502040204020203" pitchFamily="34" charset="0"/>
            </a:endParaRPr>
          </a:p>
        </p:txBody>
      </p:sp>
      <p:sp>
        <p:nvSpPr>
          <p:cNvPr id="6" name="文本框 5">
            <a:extLst>
              <a:ext uri="{FF2B5EF4-FFF2-40B4-BE49-F238E27FC236}">
                <a16:creationId xmlns:a16="http://schemas.microsoft.com/office/drawing/2014/main" id="{C2338F5D-E4F9-2B47-9149-58501040415A}"/>
              </a:ext>
            </a:extLst>
          </p:cNvPr>
          <p:cNvSpPr txBox="1"/>
          <p:nvPr/>
        </p:nvSpPr>
        <p:spPr>
          <a:xfrm>
            <a:off x="702734" y="1703610"/>
            <a:ext cx="5837214" cy="2308324"/>
          </a:xfrm>
          <a:prstGeom prst="rect">
            <a:avLst/>
          </a:prstGeom>
          <a:noFill/>
        </p:spPr>
        <p:txBody>
          <a:bodyPr wrap="square">
            <a:spAutoFit/>
          </a:bodyPr>
          <a:lstStyle/>
          <a:p>
            <a:r>
              <a:rPr lang="zh-CN" altLang="en-US" dirty="0"/>
              <a:t>延音踏板对于音乐的表现力、共鸣效果以及连贯演奏至关重要。</a:t>
            </a:r>
            <a:endParaRPr lang="en-US" altLang="zh-CN" dirty="0"/>
          </a:p>
          <a:p>
            <a:endParaRPr lang="en-US" altLang="zh-CN" dirty="0"/>
          </a:p>
          <a:p>
            <a:r>
              <a:rPr lang="zh-CN" altLang="en-US" dirty="0"/>
              <a:t>许多 </a:t>
            </a:r>
            <a:r>
              <a:rPr lang="en-US" altLang="zh-CN" dirty="0"/>
              <a:t>MIDI </a:t>
            </a:r>
            <a:r>
              <a:rPr lang="zh-CN" altLang="en-US" dirty="0"/>
              <a:t>数据集缺乏真实的踏板信息，从而降低了表现力。</a:t>
            </a:r>
            <a:endParaRPr lang="en-US" altLang="zh-CN" dirty="0"/>
          </a:p>
          <a:p>
            <a:endParaRPr lang="en-US" altLang="zh-CN" dirty="0"/>
          </a:p>
          <a:p>
            <a:r>
              <a:rPr lang="zh-CN" altLang="en-US" dirty="0"/>
              <a:t>项目问题：我们如何通过精确模拟延音踏板的使用情况来生成听起来更像真实人类演奏的 </a:t>
            </a:r>
            <a:r>
              <a:rPr lang="en-US" altLang="zh-CN" dirty="0"/>
              <a:t>MIDI </a:t>
            </a:r>
            <a:r>
              <a:rPr lang="zh-CN" altLang="en-US" dirty="0"/>
              <a:t>作品？</a:t>
            </a: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A997F-A146-C697-0C65-187E126622B3}"/>
            </a:ext>
          </a:extLst>
        </p:cNvPr>
        <p:cNvGrpSpPr/>
        <p:nvPr/>
      </p:nvGrpSpPr>
      <p:grpSpPr>
        <a:xfrm>
          <a:off x="0" y="0"/>
          <a:ext cx="0" cy="0"/>
          <a:chOff x="0" y="0"/>
          <a:chExt cx="0" cy="0"/>
        </a:xfrm>
      </p:grpSpPr>
      <p:pic>
        <p:nvPicPr>
          <p:cNvPr id="5" name="图片 4">
            <a:extLst>
              <a:ext uri="{FF2B5EF4-FFF2-40B4-BE49-F238E27FC236}">
                <a16:creationId xmlns:a16="http://schemas.microsoft.com/office/drawing/2014/main" id="{48604011-06F3-1427-D11F-E2354C496EC5}"/>
              </a:ext>
            </a:extLst>
          </p:cNvPr>
          <p:cNvPicPr>
            <a:picLocks noChangeAspect="1"/>
          </p:cNvPicPr>
          <p:nvPr/>
        </p:nvPicPr>
        <p:blipFill>
          <a:blip r:embed="rId3"/>
          <a:stretch>
            <a:fillRect/>
          </a:stretch>
        </p:blipFill>
        <p:spPr>
          <a:xfrm>
            <a:off x="669826" y="3675656"/>
            <a:ext cx="7753351" cy="2644481"/>
          </a:xfrm>
          <a:prstGeom prst="rect">
            <a:avLst/>
          </a:prstGeom>
        </p:spPr>
      </p:pic>
      <p:sp>
        <p:nvSpPr>
          <p:cNvPr id="3" name="标题 2">
            <a:extLst>
              <a:ext uri="{FF2B5EF4-FFF2-40B4-BE49-F238E27FC236}">
                <a16:creationId xmlns:a16="http://schemas.microsoft.com/office/drawing/2014/main" id="{72D272FD-A8B6-CAC7-2430-E3F85C94DCF1}"/>
              </a:ext>
            </a:extLst>
          </p:cNvPr>
          <p:cNvSpPr>
            <a:spLocks noGrp="1"/>
          </p:cNvSpPr>
          <p:nvPr>
            <p:ph type="title"/>
          </p:nvPr>
        </p:nvSpPr>
        <p:spPr/>
        <p:txBody>
          <a:bodyPr/>
          <a:lstStyle/>
          <a:p>
            <a:r>
              <a:rPr lang="zh-CN" altLang="en-US" dirty="0"/>
              <a:t>数据集与表示形式</a:t>
            </a:r>
          </a:p>
        </p:txBody>
      </p:sp>
      <p:sp>
        <p:nvSpPr>
          <p:cNvPr id="6" name="文本框 5">
            <a:extLst>
              <a:ext uri="{FF2B5EF4-FFF2-40B4-BE49-F238E27FC236}">
                <a16:creationId xmlns:a16="http://schemas.microsoft.com/office/drawing/2014/main" id="{ADADE8DA-E872-6FF2-BC6F-BE47BAA95FBC}"/>
              </a:ext>
            </a:extLst>
          </p:cNvPr>
          <p:cNvSpPr txBox="1"/>
          <p:nvPr/>
        </p:nvSpPr>
        <p:spPr>
          <a:xfrm>
            <a:off x="669826" y="1267512"/>
            <a:ext cx="9573866" cy="2308324"/>
          </a:xfrm>
          <a:prstGeom prst="rect">
            <a:avLst/>
          </a:prstGeom>
          <a:noFill/>
        </p:spPr>
        <p:txBody>
          <a:bodyPr wrap="square">
            <a:spAutoFit/>
          </a:bodyPr>
          <a:lstStyle/>
          <a:p>
            <a:r>
              <a:rPr lang="it-IT" altLang="zh-CN" dirty="0"/>
              <a:t>MAESTRO </a:t>
            </a:r>
            <a:r>
              <a:rPr lang="zh-CN" altLang="en-US" dirty="0"/>
              <a:t>数据集</a:t>
            </a:r>
            <a:br>
              <a:rPr lang="it-IT" altLang="zh-CN" dirty="0"/>
            </a:br>
            <a:br>
              <a:rPr lang="it-IT" altLang="zh-CN" dirty="0"/>
            </a:br>
            <a:r>
              <a:rPr lang="zh-CN" altLang="en-US" b="1" dirty="0"/>
              <a:t>一个包含超过 </a:t>
            </a:r>
            <a:r>
              <a:rPr lang="en-US" altLang="zh-CN" b="1" dirty="0"/>
              <a:t>200 </a:t>
            </a:r>
            <a:r>
              <a:rPr lang="zh-CN" altLang="en-US" b="1" dirty="0"/>
              <a:t>小时高超演奏的大型钢琴数据集。由谷歌马格纳团队与国际钢琴电子竞赛合作发布。</a:t>
            </a:r>
            <a:endParaRPr lang="en-US" altLang="zh-CN" b="1" dirty="0"/>
          </a:p>
          <a:p>
            <a:r>
              <a:rPr lang="zh-CN" altLang="en-US" b="1" dirty="0"/>
              <a:t>提供了与时间精度极高的音频和 </a:t>
            </a:r>
            <a:r>
              <a:rPr lang="en-US" altLang="zh-CN" b="1" dirty="0"/>
              <a:t>MIDI </a:t>
            </a:r>
            <a:r>
              <a:rPr lang="zh-CN" altLang="en-US" b="1" dirty="0"/>
              <a:t>录音相匹配的文件。</a:t>
            </a:r>
            <a:endParaRPr lang="en-US" altLang="zh-CN" b="1" dirty="0"/>
          </a:p>
          <a:p>
            <a:r>
              <a:rPr lang="zh-CN" altLang="en-US" b="1" dirty="0"/>
              <a:t>广泛用于音乐生成、转录和富有表现力的演奏模型构建。包含详细的延音踏板信息，使其非常适合研究富有表现力演奏中的踏板使用情况。</a:t>
            </a:r>
            <a:endParaRPr lang="it-IT" altLang="zh-CN" dirty="0"/>
          </a:p>
          <a:p>
            <a:endParaRPr lang="it-IT" altLang="zh-CN" dirty="0"/>
          </a:p>
        </p:txBody>
      </p:sp>
    </p:spTree>
    <p:extLst>
      <p:ext uri="{BB962C8B-B14F-4D97-AF65-F5344CB8AC3E}">
        <p14:creationId xmlns:p14="http://schemas.microsoft.com/office/powerpoint/2010/main" val="28430764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25C6046-F83B-1D09-5C1E-A5895E868E48}"/>
              </a:ext>
            </a:extLst>
          </p:cNvPr>
          <p:cNvSpPr>
            <a:spLocks noGrp="1"/>
          </p:cNvSpPr>
          <p:nvPr>
            <p:ph type="title"/>
          </p:nvPr>
        </p:nvSpPr>
        <p:spPr/>
        <p:txBody>
          <a:bodyPr/>
          <a:lstStyle/>
          <a:p>
            <a:r>
              <a:rPr lang="en-US" altLang="zh-CN" dirty="0"/>
              <a:t>Mask</a:t>
            </a:r>
            <a:r>
              <a:rPr lang="zh-CN" altLang="en-US" dirty="0"/>
              <a:t>预测与段落分割</a:t>
            </a:r>
          </a:p>
        </p:txBody>
      </p:sp>
      <p:pic>
        <p:nvPicPr>
          <p:cNvPr id="14" name="图片 13">
            <a:extLst>
              <a:ext uri="{FF2B5EF4-FFF2-40B4-BE49-F238E27FC236}">
                <a16:creationId xmlns:a16="http://schemas.microsoft.com/office/drawing/2014/main" id="{3B4612A8-4B85-F6F2-6A65-7B9896AAFF81}"/>
              </a:ext>
            </a:extLst>
          </p:cNvPr>
          <p:cNvPicPr>
            <a:picLocks noChangeAspect="1"/>
          </p:cNvPicPr>
          <p:nvPr/>
        </p:nvPicPr>
        <p:blipFill>
          <a:blip r:embed="rId3"/>
          <a:stretch>
            <a:fillRect/>
          </a:stretch>
        </p:blipFill>
        <p:spPr>
          <a:xfrm>
            <a:off x="3198768" y="1452437"/>
            <a:ext cx="4074798" cy="532293"/>
          </a:xfrm>
          <a:prstGeom prst="rect">
            <a:avLst/>
          </a:prstGeom>
        </p:spPr>
      </p:pic>
      <p:pic>
        <p:nvPicPr>
          <p:cNvPr id="16" name="图片 15">
            <a:extLst>
              <a:ext uri="{FF2B5EF4-FFF2-40B4-BE49-F238E27FC236}">
                <a16:creationId xmlns:a16="http://schemas.microsoft.com/office/drawing/2014/main" id="{18BB53B0-69D7-39A0-0CA6-95A1C6361E95}"/>
              </a:ext>
            </a:extLst>
          </p:cNvPr>
          <p:cNvPicPr>
            <a:picLocks noChangeAspect="1"/>
          </p:cNvPicPr>
          <p:nvPr/>
        </p:nvPicPr>
        <p:blipFill>
          <a:blip r:embed="rId4"/>
          <a:stretch>
            <a:fillRect/>
          </a:stretch>
        </p:blipFill>
        <p:spPr>
          <a:xfrm>
            <a:off x="682962" y="2483019"/>
            <a:ext cx="9646900" cy="3926925"/>
          </a:xfrm>
          <a:prstGeom prst="rect">
            <a:avLst/>
          </a:prstGeom>
        </p:spPr>
      </p:pic>
      <p:pic>
        <p:nvPicPr>
          <p:cNvPr id="26" name="图片 25">
            <a:extLst>
              <a:ext uri="{FF2B5EF4-FFF2-40B4-BE49-F238E27FC236}">
                <a16:creationId xmlns:a16="http://schemas.microsoft.com/office/drawing/2014/main" id="{F00FFB2D-A4DA-1C82-1DD9-FF532581D4D5}"/>
              </a:ext>
            </a:extLst>
          </p:cNvPr>
          <p:cNvPicPr>
            <a:picLocks noChangeAspect="1"/>
          </p:cNvPicPr>
          <p:nvPr/>
        </p:nvPicPr>
        <p:blipFill>
          <a:blip r:embed="rId5"/>
          <a:stretch>
            <a:fillRect/>
          </a:stretch>
        </p:blipFill>
        <p:spPr>
          <a:xfrm>
            <a:off x="682962" y="2687754"/>
            <a:ext cx="256969" cy="256969"/>
          </a:xfrm>
          <a:prstGeom prst="rect">
            <a:avLst/>
          </a:prstGeom>
        </p:spPr>
      </p:pic>
      <p:pic>
        <p:nvPicPr>
          <p:cNvPr id="28" name="图片 27">
            <a:extLst>
              <a:ext uri="{FF2B5EF4-FFF2-40B4-BE49-F238E27FC236}">
                <a16:creationId xmlns:a16="http://schemas.microsoft.com/office/drawing/2014/main" id="{891CDE75-FDAC-DE3D-C8E8-AA4E16122CEA}"/>
              </a:ext>
            </a:extLst>
          </p:cNvPr>
          <p:cNvPicPr>
            <a:picLocks noChangeAspect="1"/>
          </p:cNvPicPr>
          <p:nvPr/>
        </p:nvPicPr>
        <p:blipFill>
          <a:blip r:embed="rId6"/>
          <a:stretch>
            <a:fillRect/>
          </a:stretch>
        </p:blipFill>
        <p:spPr>
          <a:xfrm>
            <a:off x="425751" y="3090039"/>
            <a:ext cx="523116" cy="229437"/>
          </a:xfrm>
          <a:prstGeom prst="rect">
            <a:avLst/>
          </a:prstGeom>
        </p:spPr>
      </p:pic>
      <p:pic>
        <p:nvPicPr>
          <p:cNvPr id="41" name="图片 40">
            <a:extLst>
              <a:ext uri="{FF2B5EF4-FFF2-40B4-BE49-F238E27FC236}">
                <a16:creationId xmlns:a16="http://schemas.microsoft.com/office/drawing/2014/main" id="{CE02ABA9-09E8-31EB-A58C-72A800BAB542}"/>
              </a:ext>
            </a:extLst>
          </p:cNvPr>
          <p:cNvPicPr>
            <a:picLocks noChangeAspect="1"/>
          </p:cNvPicPr>
          <p:nvPr/>
        </p:nvPicPr>
        <p:blipFill>
          <a:blip r:embed="rId7"/>
          <a:stretch>
            <a:fillRect/>
          </a:stretch>
        </p:blipFill>
        <p:spPr>
          <a:xfrm>
            <a:off x="387646" y="3826597"/>
            <a:ext cx="541471" cy="238615"/>
          </a:xfrm>
          <a:prstGeom prst="rect">
            <a:avLst/>
          </a:prstGeom>
        </p:spPr>
      </p:pic>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58C9C-59F7-1F34-3D28-F966F7D4CA55}"/>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925B1B09-FF72-E35D-EBDF-837000D81A7E}"/>
              </a:ext>
            </a:extLst>
          </p:cNvPr>
          <p:cNvPicPr>
            <a:picLocks noChangeAspect="1"/>
          </p:cNvPicPr>
          <p:nvPr/>
        </p:nvPicPr>
        <p:blipFill>
          <a:blip r:embed="rId3"/>
          <a:stretch>
            <a:fillRect/>
          </a:stretch>
        </p:blipFill>
        <p:spPr>
          <a:xfrm>
            <a:off x="937031" y="1683891"/>
            <a:ext cx="5288737" cy="4459528"/>
          </a:xfrm>
          <a:prstGeom prst="rect">
            <a:avLst/>
          </a:prstGeom>
        </p:spPr>
      </p:pic>
      <p:sp>
        <p:nvSpPr>
          <p:cNvPr id="3" name="标题 2">
            <a:extLst>
              <a:ext uri="{FF2B5EF4-FFF2-40B4-BE49-F238E27FC236}">
                <a16:creationId xmlns:a16="http://schemas.microsoft.com/office/drawing/2014/main" id="{F415A2AB-D963-5D3E-A7D7-AC697B99D6A2}"/>
              </a:ext>
            </a:extLst>
          </p:cNvPr>
          <p:cNvSpPr>
            <a:spLocks noGrp="1"/>
          </p:cNvSpPr>
          <p:nvPr>
            <p:ph type="title"/>
          </p:nvPr>
        </p:nvSpPr>
        <p:spPr/>
        <p:txBody>
          <a:bodyPr/>
          <a:lstStyle/>
          <a:p>
            <a:r>
              <a:rPr lang="zh-CN" altLang="en-US" dirty="0"/>
              <a:t>模型结构</a:t>
            </a:r>
          </a:p>
        </p:txBody>
      </p:sp>
      <p:sp>
        <p:nvSpPr>
          <p:cNvPr id="2" name="文本框 1">
            <a:extLst>
              <a:ext uri="{FF2B5EF4-FFF2-40B4-BE49-F238E27FC236}">
                <a16:creationId xmlns:a16="http://schemas.microsoft.com/office/drawing/2014/main" id="{B8ED8304-B9DB-BD09-EA42-E0E0BC59F2D4}"/>
              </a:ext>
            </a:extLst>
          </p:cNvPr>
          <p:cNvSpPr txBox="1"/>
          <p:nvPr/>
        </p:nvSpPr>
        <p:spPr>
          <a:xfrm>
            <a:off x="7211291" y="2400300"/>
            <a:ext cx="3855027" cy="2031325"/>
          </a:xfrm>
          <a:prstGeom prst="rect">
            <a:avLst/>
          </a:prstGeom>
          <a:noFill/>
        </p:spPr>
        <p:txBody>
          <a:bodyPr wrap="square" rtlCol="0">
            <a:spAutoFit/>
          </a:bodyPr>
          <a:lstStyle/>
          <a:p>
            <a:r>
              <a:rPr lang="zh-CN" altLang="en-US" dirty="0"/>
              <a:t>部分重建</a:t>
            </a:r>
            <a:br>
              <a:rPr lang="en-US" altLang="zh-CN" dirty="0"/>
            </a:br>
            <a:br>
              <a:rPr lang="en-US" altLang="zh-CN" dirty="0"/>
            </a:br>
            <a:r>
              <a:rPr lang="zh-CN" altLang="en-US" dirty="0"/>
              <a:t>输入保留按键信息和踏板起点</a:t>
            </a:r>
            <a:br>
              <a:rPr lang="en-US" altLang="zh-CN" dirty="0"/>
            </a:br>
            <a:br>
              <a:rPr lang="en-US" altLang="zh-CN" dirty="0"/>
            </a:br>
            <a:r>
              <a:rPr lang="zh-CN" altLang="en-US" dirty="0"/>
              <a:t>全部重建</a:t>
            </a:r>
            <a:br>
              <a:rPr lang="en-US" altLang="zh-CN" dirty="0"/>
            </a:br>
            <a:br>
              <a:rPr lang="en-US" altLang="zh-CN" dirty="0"/>
            </a:br>
            <a:r>
              <a:rPr lang="zh-CN" altLang="en-US" dirty="0"/>
              <a:t>输入只包含按键信息</a:t>
            </a:r>
          </a:p>
        </p:txBody>
      </p:sp>
    </p:spTree>
    <p:extLst>
      <p:ext uri="{BB962C8B-B14F-4D97-AF65-F5344CB8AC3E}">
        <p14:creationId xmlns:p14="http://schemas.microsoft.com/office/powerpoint/2010/main" val="5484139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E22F4-A3F8-3CA0-8251-B6054E3F66A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4AE47DC-D676-CDBF-75E1-5DDA289F99F9}"/>
              </a:ext>
            </a:extLst>
          </p:cNvPr>
          <p:cNvSpPr>
            <a:spLocks noGrp="1"/>
          </p:cNvSpPr>
          <p:nvPr>
            <p:ph type="title"/>
          </p:nvPr>
        </p:nvSpPr>
        <p:spPr/>
        <p:txBody>
          <a:bodyPr/>
          <a:lstStyle/>
          <a:p>
            <a:r>
              <a:rPr lang="zh-CN" altLang="en-US" dirty="0"/>
              <a:t>预测结果样例</a:t>
            </a:r>
          </a:p>
        </p:txBody>
      </p:sp>
      <p:pic>
        <p:nvPicPr>
          <p:cNvPr id="4" name="图片 3">
            <a:extLst>
              <a:ext uri="{FF2B5EF4-FFF2-40B4-BE49-F238E27FC236}">
                <a16:creationId xmlns:a16="http://schemas.microsoft.com/office/drawing/2014/main" id="{EBF54523-AFFF-DD2C-293A-FDDA419E9F50}"/>
              </a:ext>
            </a:extLst>
          </p:cNvPr>
          <p:cNvPicPr>
            <a:picLocks noChangeAspect="1"/>
          </p:cNvPicPr>
          <p:nvPr/>
        </p:nvPicPr>
        <p:blipFill>
          <a:blip r:embed="rId3"/>
          <a:stretch>
            <a:fillRect/>
          </a:stretch>
        </p:blipFill>
        <p:spPr>
          <a:xfrm>
            <a:off x="521207" y="1464273"/>
            <a:ext cx="8222743" cy="4276273"/>
          </a:xfrm>
          <a:prstGeom prst="rect">
            <a:avLst/>
          </a:prstGeom>
        </p:spPr>
      </p:pic>
    </p:spTree>
    <p:extLst>
      <p:ext uri="{BB962C8B-B14F-4D97-AF65-F5344CB8AC3E}">
        <p14:creationId xmlns:p14="http://schemas.microsoft.com/office/powerpoint/2010/main" val="21577266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2FC01135-6D74-F0C3-AB97-1C8132E70E8D}"/>
              </a:ext>
            </a:extLst>
          </p:cNvPr>
          <p:cNvSpPr/>
          <p:nvPr/>
        </p:nvSpPr>
        <p:spPr>
          <a:xfrm>
            <a:off x="1517833" y="2840879"/>
            <a:ext cx="1163187" cy="3174558"/>
          </a:xfrm>
          <a:prstGeom prst="rect">
            <a:avLst/>
          </a:prstGeom>
          <a:solidFill>
            <a:srgbClr val="00B050">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92D050"/>
              </a:solidFill>
            </a:endParaRPr>
          </a:p>
        </p:txBody>
      </p:sp>
      <p:sp>
        <p:nvSpPr>
          <p:cNvPr id="5" name="矩形 4">
            <a:extLst>
              <a:ext uri="{FF2B5EF4-FFF2-40B4-BE49-F238E27FC236}">
                <a16:creationId xmlns:a16="http://schemas.microsoft.com/office/drawing/2014/main" id="{78E2FA81-080B-F62F-5904-2BCDC3BBFD0D}"/>
              </a:ext>
            </a:extLst>
          </p:cNvPr>
          <p:cNvSpPr/>
          <p:nvPr/>
        </p:nvSpPr>
        <p:spPr>
          <a:xfrm>
            <a:off x="2681020" y="2840879"/>
            <a:ext cx="1163185" cy="3174558"/>
          </a:xfrm>
          <a:prstGeom prst="rect">
            <a:avLst/>
          </a:prstGeom>
          <a:solidFill>
            <a:srgbClr val="FFFF00">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92D050"/>
              </a:solidFill>
            </a:endParaRPr>
          </a:p>
        </p:txBody>
      </p:sp>
      <p:sp>
        <p:nvSpPr>
          <p:cNvPr id="8" name="矩形 7">
            <a:extLst>
              <a:ext uri="{FF2B5EF4-FFF2-40B4-BE49-F238E27FC236}">
                <a16:creationId xmlns:a16="http://schemas.microsoft.com/office/drawing/2014/main" id="{2FA90B19-1567-F1B5-2D13-E2712FAAD148}"/>
              </a:ext>
            </a:extLst>
          </p:cNvPr>
          <p:cNvSpPr/>
          <p:nvPr/>
        </p:nvSpPr>
        <p:spPr>
          <a:xfrm>
            <a:off x="3844204" y="2840879"/>
            <a:ext cx="2779863" cy="3174558"/>
          </a:xfrm>
          <a:prstGeom prst="rect">
            <a:avLst/>
          </a:prstGeom>
          <a:solidFill>
            <a:srgbClr val="FF0000">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92D050"/>
              </a:solidFill>
            </a:endParaRPr>
          </a:p>
        </p:txBody>
      </p:sp>
      <p:cxnSp>
        <p:nvCxnSpPr>
          <p:cNvPr id="11" name="直接连接符 10">
            <a:extLst>
              <a:ext uri="{FF2B5EF4-FFF2-40B4-BE49-F238E27FC236}">
                <a16:creationId xmlns:a16="http://schemas.microsoft.com/office/drawing/2014/main" id="{73EAD9B0-774E-C50C-FDFA-F76B4FEE599C}"/>
              </a:ext>
            </a:extLst>
          </p:cNvPr>
          <p:cNvCxnSpPr>
            <a:cxnSpLocks/>
          </p:cNvCxnSpPr>
          <p:nvPr/>
        </p:nvCxnSpPr>
        <p:spPr>
          <a:xfrm>
            <a:off x="1517835" y="2087824"/>
            <a:ext cx="0" cy="4724400"/>
          </a:xfrm>
          <a:prstGeom prst="line">
            <a:avLst/>
          </a:prstGeom>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5979A094-1A93-5A8A-2229-BA01B741C3E6}"/>
              </a:ext>
            </a:extLst>
          </p:cNvPr>
          <p:cNvSpPr/>
          <p:nvPr/>
        </p:nvSpPr>
        <p:spPr>
          <a:xfrm>
            <a:off x="1517833" y="3365459"/>
            <a:ext cx="6056634" cy="3085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B1542EE7-7091-32E7-FA92-CAF3F9B4994D}"/>
              </a:ext>
            </a:extLst>
          </p:cNvPr>
          <p:cNvSpPr/>
          <p:nvPr/>
        </p:nvSpPr>
        <p:spPr>
          <a:xfrm>
            <a:off x="1517833" y="4208739"/>
            <a:ext cx="9760228" cy="3085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D2542E51-6D18-594C-262C-4F52AAD94587}"/>
              </a:ext>
            </a:extLst>
          </p:cNvPr>
          <p:cNvSpPr txBox="1"/>
          <p:nvPr/>
        </p:nvSpPr>
        <p:spPr>
          <a:xfrm>
            <a:off x="2022301" y="2200799"/>
            <a:ext cx="1351280" cy="369332"/>
          </a:xfrm>
          <a:prstGeom prst="rect">
            <a:avLst/>
          </a:prstGeom>
          <a:noFill/>
        </p:spPr>
        <p:txBody>
          <a:bodyPr wrap="square" rtlCol="0">
            <a:spAutoFit/>
          </a:bodyPr>
          <a:lstStyle/>
          <a:p>
            <a:pPr algn="ctr"/>
            <a:r>
              <a:rPr lang="en-US" altLang="zh-CN" dirty="0"/>
              <a:t>40ms</a:t>
            </a:r>
            <a:endParaRPr lang="zh-CN" altLang="en-US" dirty="0"/>
          </a:p>
        </p:txBody>
      </p:sp>
      <p:sp>
        <p:nvSpPr>
          <p:cNvPr id="15" name="文本框 14">
            <a:extLst>
              <a:ext uri="{FF2B5EF4-FFF2-40B4-BE49-F238E27FC236}">
                <a16:creationId xmlns:a16="http://schemas.microsoft.com/office/drawing/2014/main" id="{0EE432C3-7D29-D37D-FF2E-3ED41BC8169C}"/>
              </a:ext>
            </a:extLst>
          </p:cNvPr>
          <p:cNvSpPr txBox="1"/>
          <p:nvPr/>
        </p:nvSpPr>
        <p:spPr>
          <a:xfrm>
            <a:off x="3203226" y="2221119"/>
            <a:ext cx="1351280" cy="369332"/>
          </a:xfrm>
          <a:prstGeom prst="rect">
            <a:avLst/>
          </a:prstGeom>
          <a:noFill/>
        </p:spPr>
        <p:txBody>
          <a:bodyPr wrap="square" rtlCol="0">
            <a:spAutoFit/>
          </a:bodyPr>
          <a:lstStyle/>
          <a:p>
            <a:pPr algn="ctr"/>
            <a:r>
              <a:rPr lang="en-US" altLang="zh-CN" dirty="0"/>
              <a:t>80ms</a:t>
            </a:r>
            <a:endParaRPr lang="zh-CN" altLang="en-US" dirty="0"/>
          </a:p>
        </p:txBody>
      </p:sp>
      <p:sp>
        <p:nvSpPr>
          <p:cNvPr id="19" name="文本框 18">
            <a:extLst>
              <a:ext uri="{FF2B5EF4-FFF2-40B4-BE49-F238E27FC236}">
                <a16:creationId xmlns:a16="http://schemas.microsoft.com/office/drawing/2014/main" id="{AF2C5C5D-3316-9E32-25BC-C3D7416991F2}"/>
              </a:ext>
            </a:extLst>
          </p:cNvPr>
          <p:cNvSpPr txBox="1"/>
          <p:nvPr/>
        </p:nvSpPr>
        <p:spPr>
          <a:xfrm>
            <a:off x="7146304" y="2221119"/>
            <a:ext cx="856325" cy="646331"/>
          </a:xfrm>
          <a:prstGeom prst="rect">
            <a:avLst/>
          </a:prstGeom>
          <a:noFill/>
        </p:spPr>
        <p:txBody>
          <a:bodyPr wrap="square" rtlCol="0">
            <a:spAutoFit/>
          </a:bodyPr>
          <a:lstStyle/>
          <a:p>
            <a:r>
              <a:rPr lang="en-US" altLang="zh-CN" dirty="0"/>
              <a:t>232ms</a:t>
            </a:r>
          </a:p>
          <a:p>
            <a:endParaRPr lang="zh-CN" altLang="en-US" dirty="0"/>
          </a:p>
        </p:txBody>
      </p:sp>
      <p:cxnSp>
        <p:nvCxnSpPr>
          <p:cNvPr id="20" name="直接连接符 19">
            <a:extLst>
              <a:ext uri="{FF2B5EF4-FFF2-40B4-BE49-F238E27FC236}">
                <a16:creationId xmlns:a16="http://schemas.microsoft.com/office/drawing/2014/main" id="{215A2A0D-91A2-FFA4-D03A-506FBA4F0A7B}"/>
              </a:ext>
            </a:extLst>
          </p:cNvPr>
          <p:cNvCxnSpPr>
            <a:cxnSpLocks/>
          </p:cNvCxnSpPr>
          <p:nvPr/>
        </p:nvCxnSpPr>
        <p:spPr>
          <a:xfrm>
            <a:off x="2681020" y="2484064"/>
            <a:ext cx="0" cy="432816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1B75C154-FB66-F697-43E6-4ACA05578430}"/>
              </a:ext>
            </a:extLst>
          </p:cNvPr>
          <p:cNvCxnSpPr>
            <a:cxnSpLocks/>
          </p:cNvCxnSpPr>
          <p:nvPr/>
        </p:nvCxnSpPr>
        <p:spPr>
          <a:xfrm>
            <a:off x="3844204" y="2484064"/>
            <a:ext cx="0" cy="432816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2C5F4EB-59FF-EFA5-E7AF-0FCCE70662C1}"/>
              </a:ext>
            </a:extLst>
          </p:cNvPr>
          <p:cNvCxnSpPr>
            <a:cxnSpLocks/>
          </p:cNvCxnSpPr>
          <p:nvPr/>
        </p:nvCxnSpPr>
        <p:spPr>
          <a:xfrm>
            <a:off x="7574467" y="2523196"/>
            <a:ext cx="0" cy="4289028"/>
          </a:xfrm>
          <a:prstGeom prst="line">
            <a:avLst/>
          </a:prstGeom>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7433598F-CDFB-3762-ADF1-E6E57E4AE3CE}"/>
              </a:ext>
            </a:extLst>
          </p:cNvPr>
          <p:cNvSpPr txBox="1"/>
          <p:nvPr/>
        </p:nvSpPr>
        <p:spPr>
          <a:xfrm>
            <a:off x="2355900" y="1540399"/>
            <a:ext cx="650240" cy="646331"/>
          </a:xfrm>
          <a:prstGeom prst="rect">
            <a:avLst/>
          </a:prstGeom>
          <a:noFill/>
        </p:spPr>
        <p:txBody>
          <a:bodyPr wrap="square" rtlCol="0">
            <a:spAutoFit/>
          </a:bodyPr>
          <a:lstStyle/>
          <a:p>
            <a:r>
              <a:rPr lang="zh-CN" altLang="en-US" dirty="0"/>
              <a:t>转录目标</a:t>
            </a:r>
          </a:p>
        </p:txBody>
      </p:sp>
      <p:sp>
        <p:nvSpPr>
          <p:cNvPr id="28" name="文本框 27">
            <a:extLst>
              <a:ext uri="{FF2B5EF4-FFF2-40B4-BE49-F238E27FC236}">
                <a16:creationId xmlns:a16="http://schemas.microsoft.com/office/drawing/2014/main" id="{F6D93EAE-0A9B-B680-725F-2C852F9405BE}"/>
              </a:ext>
            </a:extLst>
          </p:cNvPr>
          <p:cNvSpPr txBox="1"/>
          <p:nvPr/>
        </p:nvSpPr>
        <p:spPr>
          <a:xfrm>
            <a:off x="8291021" y="5746639"/>
            <a:ext cx="1706880" cy="646331"/>
          </a:xfrm>
          <a:prstGeom prst="rect">
            <a:avLst/>
          </a:prstGeom>
          <a:noFill/>
        </p:spPr>
        <p:txBody>
          <a:bodyPr wrap="square" rtlCol="0">
            <a:spAutoFit/>
          </a:bodyPr>
          <a:lstStyle/>
          <a:p>
            <a:r>
              <a:rPr lang="zh-CN" altLang="en-US" dirty="0"/>
              <a:t>真实目标</a:t>
            </a:r>
            <a:br>
              <a:rPr lang="en-US" altLang="zh-CN" dirty="0"/>
            </a:br>
            <a:r>
              <a:rPr lang="zh-CN" altLang="en-US" dirty="0"/>
              <a:t>创作音乐</a:t>
            </a:r>
          </a:p>
        </p:txBody>
      </p:sp>
      <p:sp>
        <p:nvSpPr>
          <p:cNvPr id="9" name="文本框 8">
            <a:extLst>
              <a:ext uri="{FF2B5EF4-FFF2-40B4-BE49-F238E27FC236}">
                <a16:creationId xmlns:a16="http://schemas.microsoft.com/office/drawing/2014/main" id="{E08CD24A-E8C0-FC35-B3E6-2361141F165D}"/>
              </a:ext>
            </a:extLst>
          </p:cNvPr>
          <p:cNvSpPr txBox="1"/>
          <p:nvPr/>
        </p:nvSpPr>
        <p:spPr>
          <a:xfrm>
            <a:off x="629283" y="493279"/>
            <a:ext cx="3906476" cy="523220"/>
          </a:xfrm>
          <a:prstGeom prst="rect">
            <a:avLst/>
          </a:prstGeom>
          <a:noFill/>
        </p:spPr>
        <p:txBody>
          <a:bodyPr wrap="square" rtlCol="0">
            <a:spAutoFit/>
          </a:bodyPr>
          <a:lstStyle/>
          <a:p>
            <a:r>
              <a:rPr lang="zh-CN" altLang="en-US" sz="2800" dirty="0"/>
              <a:t>延迟目标，与训练目标</a:t>
            </a:r>
          </a:p>
        </p:txBody>
      </p:sp>
    </p:spTree>
    <p:extLst>
      <p:ext uri="{BB962C8B-B14F-4D97-AF65-F5344CB8AC3E}">
        <p14:creationId xmlns:p14="http://schemas.microsoft.com/office/powerpoint/2010/main" val="2894378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67FDA-097A-FF71-85B0-C4617FB856C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AE353A8-66EA-624F-2166-5800C9C632FF}"/>
              </a:ext>
            </a:extLst>
          </p:cNvPr>
          <p:cNvSpPr>
            <a:spLocks noGrp="1"/>
          </p:cNvSpPr>
          <p:nvPr>
            <p:ph type="title"/>
          </p:nvPr>
        </p:nvSpPr>
        <p:spPr/>
        <p:txBody>
          <a:bodyPr/>
          <a:lstStyle/>
          <a:p>
            <a:r>
              <a:rPr lang="zh-CN" altLang="en-US" dirty="0"/>
              <a:t>评估与结果</a:t>
            </a:r>
          </a:p>
        </p:txBody>
      </p:sp>
      <p:pic>
        <p:nvPicPr>
          <p:cNvPr id="11" name="图片 10">
            <a:extLst>
              <a:ext uri="{FF2B5EF4-FFF2-40B4-BE49-F238E27FC236}">
                <a16:creationId xmlns:a16="http://schemas.microsoft.com/office/drawing/2014/main" id="{8E4F8178-2B3C-98D7-FC63-11AE069349C7}"/>
              </a:ext>
            </a:extLst>
          </p:cNvPr>
          <p:cNvPicPr>
            <a:picLocks noChangeAspect="1"/>
          </p:cNvPicPr>
          <p:nvPr/>
        </p:nvPicPr>
        <p:blipFill>
          <a:blip r:embed="rId3"/>
          <a:stretch>
            <a:fillRect/>
          </a:stretch>
        </p:blipFill>
        <p:spPr>
          <a:xfrm>
            <a:off x="4418303" y="1418506"/>
            <a:ext cx="5960045" cy="2124794"/>
          </a:xfrm>
          <a:prstGeom prst="rect">
            <a:avLst/>
          </a:prstGeom>
        </p:spPr>
      </p:pic>
      <p:pic>
        <p:nvPicPr>
          <p:cNvPr id="13" name="图片 12">
            <a:extLst>
              <a:ext uri="{FF2B5EF4-FFF2-40B4-BE49-F238E27FC236}">
                <a16:creationId xmlns:a16="http://schemas.microsoft.com/office/drawing/2014/main" id="{1B2123E0-906D-49B1-F6B5-FE84C0801020}"/>
              </a:ext>
            </a:extLst>
          </p:cNvPr>
          <p:cNvPicPr>
            <a:picLocks noChangeAspect="1"/>
          </p:cNvPicPr>
          <p:nvPr/>
        </p:nvPicPr>
        <p:blipFill>
          <a:blip r:embed="rId4"/>
          <a:stretch>
            <a:fillRect/>
          </a:stretch>
        </p:blipFill>
        <p:spPr>
          <a:xfrm>
            <a:off x="4536764" y="4155622"/>
            <a:ext cx="5049016" cy="2124795"/>
          </a:xfrm>
          <a:prstGeom prst="rect">
            <a:avLst/>
          </a:prstGeom>
        </p:spPr>
      </p:pic>
      <p:pic>
        <p:nvPicPr>
          <p:cNvPr id="17" name="图片 16">
            <a:extLst>
              <a:ext uri="{FF2B5EF4-FFF2-40B4-BE49-F238E27FC236}">
                <a16:creationId xmlns:a16="http://schemas.microsoft.com/office/drawing/2014/main" id="{E4795610-8AF3-148C-A7D2-F41D5E2876CF}"/>
              </a:ext>
            </a:extLst>
          </p:cNvPr>
          <p:cNvPicPr>
            <a:picLocks noChangeAspect="1"/>
          </p:cNvPicPr>
          <p:nvPr/>
        </p:nvPicPr>
        <p:blipFill>
          <a:blip r:embed="rId5"/>
          <a:srcRect b="32609"/>
          <a:stretch>
            <a:fillRect/>
          </a:stretch>
        </p:blipFill>
        <p:spPr>
          <a:xfrm>
            <a:off x="339109" y="1247056"/>
            <a:ext cx="4140245" cy="5234825"/>
          </a:xfrm>
          <a:prstGeom prst="rect">
            <a:avLst/>
          </a:prstGeom>
        </p:spPr>
      </p:pic>
    </p:spTree>
    <p:extLst>
      <p:ext uri="{BB962C8B-B14F-4D97-AF65-F5344CB8AC3E}">
        <p14:creationId xmlns:p14="http://schemas.microsoft.com/office/powerpoint/2010/main" val="14800107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CA57B-5F8A-E771-A893-2CF2FD2D6DB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A7762E2F-1F6C-BE56-1B1F-7B3B67280859}"/>
              </a:ext>
            </a:extLst>
          </p:cNvPr>
          <p:cNvSpPr>
            <a:spLocks noGrp="1"/>
          </p:cNvSpPr>
          <p:nvPr>
            <p:ph type="title"/>
          </p:nvPr>
        </p:nvSpPr>
        <p:spPr/>
        <p:txBody>
          <a:bodyPr/>
          <a:lstStyle/>
          <a:p>
            <a:r>
              <a:rPr lang="zh-CN" altLang="en-US" dirty="0"/>
              <a:t>评估与结果</a:t>
            </a:r>
          </a:p>
        </p:txBody>
      </p:sp>
      <p:pic>
        <p:nvPicPr>
          <p:cNvPr id="7" name="图片 6">
            <a:extLst>
              <a:ext uri="{FF2B5EF4-FFF2-40B4-BE49-F238E27FC236}">
                <a16:creationId xmlns:a16="http://schemas.microsoft.com/office/drawing/2014/main" id="{C236F4D9-8709-B22B-0B4D-C79048BC503D}"/>
              </a:ext>
            </a:extLst>
          </p:cNvPr>
          <p:cNvPicPr>
            <a:picLocks noChangeAspect="1"/>
          </p:cNvPicPr>
          <p:nvPr/>
        </p:nvPicPr>
        <p:blipFill>
          <a:blip r:embed="rId3"/>
          <a:stretch>
            <a:fillRect/>
          </a:stretch>
        </p:blipFill>
        <p:spPr>
          <a:xfrm>
            <a:off x="1675952" y="1231126"/>
            <a:ext cx="6513452" cy="2605380"/>
          </a:xfrm>
          <a:prstGeom prst="rect">
            <a:avLst/>
          </a:prstGeom>
        </p:spPr>
      </p:pic>
      <p:pic>
        <p:nvPicPr>
          <p:cNvPr id="9" name="图片 8">
            <a:extLst>
              <a:ext uri="{FF2B5EF4-FFF2-40B4-BE49-F238E27FC236}">
                <a16:creationId xmlns:a16="http://schemas.microsoft.com/office/drawing/2014/main" id="{4C8DC6EF-5BA5-0ABC-E26E-6F2B03A06878}"/>
              </a:ext>
            </a:extLst>
          </p:cNvPr>
          <p:cNvPicPr>
            <a:picLocks noChangeAspect="1"/>
          </p:cNvPicPr>
          <p:nvPr/>
        </p:nvPicPr>
        <p:blipFill>
          <a:blip r:embed="rId4"/>
          <a:stretch>
            <a:fillRect/>
          </a:stretch>
        </p:blipFill>
        <p:spPr>
          <a:xfrm>
            <a:off x="1675952" y="3804563"/>
            <a:ext cx="6513452" cy="2605381"/>
          </a:xfrm>
          <a:prstGeom prst="rect">
            <a:avLst/>
          </a:prstGeom>
        </p:spPr>
      </p:pic>
      <p:sp>
        <p:nvSpPr>
          <p:cNvPr id="2" name="文本框 1">
            <a:extLst>
              <a:ext uri="{FF2B5EF4-FFF2-40B4-BE49-F238E27FC236}">
                <a16:creationId xmlns:a16="http://schemas.microsoft.com/office/drawing/2014/main" id="{74A6E956-85CB-E21F-E397-F564DC4FD9AC}"/>
              </a:ext>
            </a:extLst>
          </p:cNvPr>
          <p:cNvSpPr txBox="1"/>
          <p:nvPr/>
        </p:nvSpPr>
        <p:spPr>
          <a:xfrm>
            <a:off x="7762460" y="1658508"/>
            <a:ext cx="853888" cy="3016210"/>
          </a:xfrm>
          <a:prstGeom prst="rect">
            <a:avLst/>
          </a:prstGeom>
          <a:noFill/>
        </p:spPr>
        <p:txBody>
          <a:bodyPr wrap="none" rtlCol="0">
            <a:spAutoFit/>
          </a:bodyPr>
          <a:lstStyle/>
          <a:p>
            <a:pPr algn="ctr"/>
            <a:r>
              <a:rPr lang="en-US" altLang="zh-CN" sz="1900" dirty="0"/>
              <a:t>Partial</a:t>
            </a:r>
          </a:p>
          <a:p>
            <a:pPr algn="ctr"/>
            <a:endParaRPr lang="en-US" altLang="zh-CN" sz="1900" dirty="0"/>
          </a:p>
          <a:p>
            <a:pPr algn="ctr"/>
            <a:endParaRPr lang="en-US" altLang="zh-CN" sz="1900" dirty="0"/>
          </a:p>
          <a:p>
            <a:pPr algn="ctr"/>
            <a:br>
              <a:rPr lang="en-US" altLang="zh-CN" sz="1900" dirty="0"/>
            </a:br>
            <a:br>
              <a:rPr lang="en-US" altLang="zh-CN" sz="1900" dirty="0"/>
            </a:br>
            <a:br>
              <a:rPr lang="en-US" altLang="zh-CN" sz="1900" dirty="0"/>
            </a:br>
            <a:br>
              <a:rPr lang="en-US" altLang="zh-CN" sz="1900" dirty="0"/>
            </a:br>
            <a:endParaRPr lang="en-US" altLang="zh-CN" sz="1900" dirty="0"/>
          </a:p>
          <a:p>
            <a:pPr algn="ctr"/>
            <a:br>
              <a:rPr lang="en-US" altLang="zh-CN" sz="1900" dirty="0"/>
            </a:br>
            <a:r>
              <a:rPr lang="en-US" altLang="zh-CN" sz="1900" dirty="0"/>
              <a:t>Full</a:t>
            </a:r>
            <a:endParaRPr lang="zh-CN" altLang="en-US" sz="1900" dirty="0"/>
          </a:p>
        </p:txBody>
      </p:sp>
    </p:spTree>
    <p:extLst>
      <p:ext uri="{BB962C8B-B14F-4D97-AF65-F5344CB8AC3E}">
        <p14:creationId xmlns:p14="http://schemas.microsoft.com/office/powerpoint/2010/main" val="6570603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7C32D-24ED-8121-367C-21EDDDC711E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70B40AF-0B0F-9620-0B5D-688B3E4E1E46}"/>
              </a:ext>
            </a:extLst>
          </p:cNvPr>
          <p:cNvSpPr>
            <a:spLocks noGrp="1"/>
          </p:cNvSpPr>
          <p:nvPr>
            <p:ph type="title"/>
          </p:nvPr>
        </p:nvSpPr>
        <p:spPr/>
        <p:txBody>
          <a:bodyPr/>
          <a:lstStyle/>
          <a:p>
            <a:r>
              <a:rPr lang="zh-CN" altLang="en-US" dirty="0"/>
              <a:t>评估与结果</a:t>
            </a:r>
          </a:p>
        </p:txBody>
      </p:sp>
      <p:pic>
        <p:nvPicPr>
          <p:cNvPr id="4" name="图片 3">
            <a:extLst>
              <a:ext uri="{FF2B5EF4-FFF2-40B4-BE49-F238E27FC236}">
                <a16:creationId xmlns:a16="http://schemas.microsoft.com/office/drawing/2014/main" id="{996D3527-D8F5-9B15-5E89-4192F8A52D8E}"/>
              </a:ext>
            </a:extLst>
          </p:cNvPr>
          <p:cNvPicPr>
            <a:picLocks noChangeAspect="1"/>
          </p:cNvPicPr>
          <p:nvPr/>
        </p:nvPicPr>
        <p:blipFill>
          <a:blip r:embed="rId3"/>
          <a:stretch>
            <a:fillRect/>
          </a:stretch>
        </p:blipFill>
        <p:spPr>
          <a:xfrm>
            <a:off x="1420644" y="1619084"/>
            <a:ext cx="7423940" cy="4128111"/>
          </a:xfrm>
          <a:prstGeom prst="rect">
            <a:avLst/>
          </a:prstGeom>
        </p:spPr>
      </p:pic>
    </p:spTree>
    <p:extLst>
      <p:ext uri="{BB962C8B-B14F-4D97-AF65-F5344CB8AC3E}">
        <p14:creationId xmlns:p14="http://schemas.microsoft.com/office/powerpoint/2010/main" val="32931224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94D69-5DE3-E956-3872-6B93831A5B5D}"/>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96FFED1-7F7F-3766-FFAE-A37C31E87879}"/>
              </a:ext>
            </a:extLst>
          </p:cNvPr>
          <p:cNvSpPr>
            <a:spLocks noGrp="1"/>
          </p:cNvSpPr>
          <p:nvPr>
            <p:ph type="title"/>
          </p:nvPr>
        </p:nvSpPr>
        <p:spPr/>
        <p:txBody>
          <a:bodyPr/>
          <a:lstStyle/>
          <a:p>
            <a:r>
              <a:rPr lang="zh-CN" altLang="en-US" dirty="0"/>
              <a:t>总结与展望</a:t>
            </a:r>
          </a:p>
        </p:txBody>
      </p:sp>
      <p:sp>
        <p:nvSpPr>
          <p:cNvPr id="6" name="文本框 5">
            <a:extLst>
              <a:ext uri="{FF2B5EF4-FFF2-40B4-BE49-F238E27FC236}">
                <a16:creationId xmlns:a16="http://schemas.microsoft.com/office/drawing/2014/main" id="{0D9E9121-62B2-D5D6-6BD9-BC1889E19018}"/>
              </a:ext>
            </a:extLst>
          </p:cNvPr>
          <p:cNvSpPr txBox="1"/>
          <p:nvPr/>
        </p:nvSpPr>
        <p:spPr>
          <a:xfrm>
            <a:off x="741973" y="1951672"/>
            <a:ext cx="6097656" cy="1477328"/>
          </a:xfrm>
          <a:prstGeom prst="rect">
            <a:avLst/>
          </a:prstGeom>
          <a:noFill/>
        </p:spPr>
        <p:txBody>
          <a:bodyPr wrap="square">
            <a:spAutoFit/>
          </a:bodyPr>
          <a:lstStyle/>
          <a:p>
            <a:r>
              <a:rPr lang="zh-CN" altLang="en-US" dirty="0"/>
              <a:t>将踏板功能整合到音符特性中：将踏板视为音符属性的一部分，而非独立的事件。</a:t>
            </a:r>
            <a:endParaRPr lang="en-US" altLang="zh-CN" dirty="0"/>
          </a:p>
          <a:p>
            <a:endParaRPr lang="en-US" altLang="zh-CN" dirty="0"/>
          </a:p>
          <a:p>
            <a:r>
              <a:rPr lang="zh-CN" altLang="en-US" dirty="0"/>
              <a:t>优化模型效率：探索轻量级的 </a:t>
            </a:r>
            <a:r>
              <a:rPr lang="en-US" altLang="zh-CN" dirty="0"/>
              <a:t>Transformer </a:t>
            </a:r>
            <a:r>
              <a:rPr lang="zh-CN" altLang="en-US" dirty="0"/>
              <a:t>架构或多模态架构。</a:t>
            </a:r>
          </a:p>
        </p:txBody>
      </p:sp>
    </p:spTree>
    <p:extLst>
      <p:ext uri="{BB962C8B-B14F-4D97-AF65-F5344CB8AC3E}">
        <p14:creationId xmlns:p14="http://schemas.microsoft.com/office/powerpoint/2010/main" val="16388492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OPCH-180A8FB43A0655DFC38D8C180C14CCBA88DEF22E194918379016539C12B6DC2E" val="[{&quot;GradientColorId&quot;:&quot;&quot;,&quot;IsFree&quot;:true,&quot;IsGradient&quot;:false,&quot;ImagePath&quot;:&quot;&quot;,&quot;GradientColor&quot;:null,&quot;SimpleColor&quot;:&quot;#92D050&quot;}]"/>
</p:tagLst>
</file>

<file path=ppt/theme/theme1.xml><?xml version="1.0" encoding="utf-8"?>
<a:theme xmlns:a="http://schemas.openxmlformats.org/drawingml/2006/main" name="自定义">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07_TF10001108_Win32" id="{08D89365-2E4C-432D-9349-8DF9B80AEEA1}" vid="{010FF314-90DF-4A21-BD0D-ADCBA34234AC}"/>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{4DF0231F-0A62-47B2-BCAC-EB369170900E}TF2989475c-5427-4edb-9ec1-00f4ce72165b3fd62f5f_win32-0bdc71b0dd9b</Template>
  <TotalTime>1860</TotalTime>
  <Words>269</Words>
  <Application>Microsoft Office PowerPoint</Application>
  <PresentationFormat>宽屏</PresentationFormat>
  <Paragraphs>44</Paragraphs>
  <Slides>11</Slides>
  <Notes>10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11</vt:i4>
      </vt:variant>
    </vt:vector>
  </HeadingPairs>
  <TitlesOfParts>
    <vt:vector size="16" baseType="lpstr">
      <vt:lpstr>Microsoft YaHei UI</vt:lpstr>
      <vt:lpstr>Microsoft YaHei UI Light</vt:lpstr>
      <vt:lpstr>Arial</vt:lpstr>
      <vt:lpstr>Segoe UI Light</vt:lpstr>
      <vt:lpstr>自定义</vt:lpstr>
      <vt:lpstr>基于transformer的钢琴踏板重建</vt:lpstr>
      <vt:lpstr>动机</vt:lpstr>
      <vt:lpstr>数据集与表示形式</vt:lpstr>
      <vt:lpstr>Mask预测与段落分割</vt:lpstr>
      <vt:lpstr>模型结构</vt:lpstr>
      <vt:lpstr>预测结果样例</vt:lpstr>
      <vt:lpstr>PowerPoint 演示文稿</vt:lpstr>
      <vt:lpstr>评估与结果</vt:lpstr>
      <vt:lpstr>评估与结果</vt:lpstr>
      <vt:lpstr>评估与结果</vt:lpstr>
      <vt:lpstr>总结与展望</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文昊 刘</dc:creator>
  <cp:keywords/>
  <cp:lastModifiedBy>文昊 刘</cp:lastModifiedBy>
  <cp:revision>5</cp:revision>
  <dcterms:created xsi:type="dcterms:W3CDTF">2025-08-20T16:31:20Z</dcterms:created>
  <dcterms:modified xsi:type="dcterms:W3CDTF">2026-03-12T12:57:56Z</dcterms:modified>
  <cp:version/>
</cp:coreProperties>
</file>